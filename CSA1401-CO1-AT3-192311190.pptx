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9372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D1B60-E3AA-B881-8D0A-F2AE7F1EF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8C95FE-F6A0-AE6C-7BD0-A87BE6703C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9B44CF-2062-F40E-5FC2-480BE0DDD6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C11E00-B63D-EF9D-01FE-C1A5BB5E40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715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image" Target="../media/image6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image" Target="../media/image9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image" Target="../media/image10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82296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DESIGN  •  CSA1401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423160"/>
            <a:ext cx="9875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Lexical Analysis and the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of the Lexical Analyzer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868680" y="4526280"/>
            <a:ext cx="1280160" cy="0"/>
          </a:xfrm>
          <a:prstGeom prst="line">
            <a:avLst/>
          </a:prstGeom>
          <a:noFill/>
          <a:ln w="38100">
            <a:solidFill>
              <a:srgbClr val="2EC4B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709159"/>
            <a:ext cx="7443962" cy="8400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Presented by: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Goutham Enamala - 192311190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Analysis</a:t>
            </a:r>
            <a:endParaRPr lang="en-US" sz="1000" dirty="0"/>
          </a:p>
        </p:txBody>
      </p:sp>
      <p:pic>
        <p:nvPicPr>
          <p:cNvPr id="3" name="Google Shape;161;p1">
            <a:extLst>
              <a:ext uri="{FF2B5EF4-FFF2-40B4-BE49-F238E27FC236}">
                <a16:creationId xmlns:a16="http://schemas.microsoft.com/office/drawing/2014/main" id="{A153C63A-CB5D-369C-3751-4EF8EFA55D24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8654" y="109728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62;p1">
            <a:extLst>
              <a:ext uri="{FF2B5EF4-FFF2-40B4-BE49-F238E27FC236}">
                <a16:creationId xmlns:a16="http://schemas.microsoft.com/office/drawing/2014/main" id="{403A577F-1274-0355-4016-405464F610A0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349865" y="196085"/>
            <a:ext cx="1520190" cy="13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9837" y="1153719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Compiler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76632" y="1713077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compiler is a program that bridges human-readable code and machine execution.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291840" cy="3291840"/>
          </a:xfrm>
          <a:prstGeom prst="roundRect">
            <a:avLst>
              <a:gd name="adj" fmla="val 2778"/>
            </a:avLst>
          </a:prstGeom>
          <a:solidFill>
            <a:srgbClr val="F4F6F9"/>
          </a:solidFill>
          <a:ln/>
          <a:effectLst>
            <a:outerShdw blurRad="76200" dist="254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0" y="2514600"/>
            <a:ext cx="731520" cy="731520"/>
          </a:xfrm>
          <a:prstGeom prst="ellipse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pic>
        <p:nvPicPr>
          <p:cNvPr id="6" name="Image 0" descr="/home/claude/icons/exchange_2EC4B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9734" y="2675534"/>
            <a:ext cx="409651" cy="4096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520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Translates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22960" y="402336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high-level language source code into machine code the CPU can execute.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06240" y="2148840"/>
            <a:ext cx="3291840" cy="3291840"/>
          </a:xfrm>
          <a:prstGeom prst="roundRect">
            <a:avLst>
              <a:gd name="adj" fmla="val 2778"/>
            </a:avLst>
          </a:prstGeom>
          <a:solidFill>
            <a:srgbClr val="F4F6F9"/>
          </a:solidFill>
          <a:ln/>
          <a:effectLst>
            <a:outerShdw blurRad="76200" dist="254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0" y="2514600"/>
            <a:ext cx="731520" cy="731520"/>
          </a:xfrm>
          <a:prstGeom prst="ellipse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pic>
        <p:nvPicPr>
          <p:cNvPr id="11" name="Image 1" descr="/home/claude/icons/search_2EC4B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7334" y="2675534"/>
            <a:ext cx="409651" cy="4096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89120" y="3520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Detects Errors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480560" y="402336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lexical, syntax, and semantic errors before the program ever runs.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863840" y="2148840"/>
            <a:ext cx="3291840" cy="3291840"/>
          </a:xfrm>
          <a:prstGeom prst="roundRect">
            <a:avLst>
              <a:gd name="adj" fmla="val 2778"/>
            </a:avLst>
          </a:prstGeom>
          <a:solidFill>
            <a:srgbClr val="F4F6F9"/>
          </a:solidFill>
          <a:ln/>
          <a:effectLst>
            <a:outerShdw blurRad="76200" dist="254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0" y="2514600"/>
            <a:ext cx="731520" cy="731520"/>
          </a:xfrm>
          <a:prstGeom prst="ellipse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pic>
        <p:nvPicPr>
          <p:cNvPr id="16" name="Image 2" descr="/home/claude/icons/bolt_2EC4B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4934" y="2675534"/>
            <a:ext cx="409651" cy="4096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46720" y="3520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Optimizes Code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8138160" y="402336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performance and efficiency of the generated machine code.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Analysis</a:t>
            </a:r>
            <a:endParaRPr lang="en-US" sz="1000" dirty="0"/>
          </a:p>
        </p:txBody>
      </p:sp>
      <p:pic>
        <p:nvPicPr>
          <p:cNvPr id="22" name="Google Shape;161;p1">
            <a:extLst>
              <a:ext uri="{FF2B5EF4-FFF2-40B4-BE49-F238E27FC236}">
                <a16:creationId xmlns:a16="http://schemas.microsoft.com/office/drawing/2014/main" id="{B4A8885D-3CE7-868C-D440-095F0CD4BF54}"/>
              </a:ext>
            </a:extLst>
          </p:cNvPr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118654" y="109728"/>
            <a:ext cx="1135380" cy="1121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162;p1">
            <a:extLst>
              <a:ext uri="{FF2B5EF4-FFF2-40B4-BE49-F238E27FC236}">
                <a16:creationId xmlns:a16="http://schemas.microsoft.com/office/drawing/2014/main" id="{562F4C63-1230-CF63-C37B-EB01FADDF687}"/>
              </a:ext>
            </a:extLst>
          </p:cNvPr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10349865" y="196085"/>
            <a:ext cx="1520190" cy="13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35024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Compiler Phases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80060" y="1992249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sequential phases transform source code into executable machine code.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2EC4B6"/>
          </a:solidFill>
          <a:ln/>
          <a:effectLst>
            <a:outerShdw blurRad="63500" dist="25400" dir="5400000" algn="bl" rotWithShape="0">
              <a:srgbClr val="1B1F3B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28346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3154680"/>
            <a:ext cx="1508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Analysis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221992" y="3172968"/>
            <a:ext cx="320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377440" y="274320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1B1F3B"/>
          </a:solidFill>
          <a:ln/>
          <a:effectLst>
            <a:outerShdw blurRad="63500" dist="25400" dir="5400000" algn="bl" rotWithShape="0">
              <a:srgbClr val="1B1F3B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87168" y="28346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68880" y="3154680"/>
            <a:ext cx="1508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Analysis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050792" y="3172968"/>
            <a:ext cx="320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206240" y="274320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1B1F3B"/>
          </a:solidFill>
          <a:ln/>
          <a:effectLst>
            <a:outerShdw blurRad="63500" dist="25400" dir="5400000" algn="bl" rotWithShape="0">
              <a:srgbClr val="1B1F3B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15968" y="28346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97680" y="3154680"/>
            <a:ext cx="1508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Analysis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879592" y="3172968"/>
            <a:ext cx="320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035040" y="274320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1B1F3B"/>
          </a:solidFill>
          <a:ln/>
          <a:effectLst>
            <a:outerShdw blurRad="63500" dist="25400" dir="5400000" algn="bl" rotWithShape="0">
              <a:srgbClr val="1B1F3B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44768" y="28346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3154680"/>
            <a:ext cx="1508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Code</a:t>
            </a:r>
            <a:endParaRPr lang="en-US" sz="1250" dirty="0"/>
          </a:p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708392" y="3172968"/>
            <a:ext cx="320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7863840" y="274320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1B1F3B"/>
          </a:solidFill>
          <a:ln/>
          <a:effectLst>
            <a:outerShdw blurRad="63500" dist="25400" dir="5400000" algn="bl" rotWithShape="0">
              <a:srgbClr val="1B1F3B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973568" y="28346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955280" y="3154680"/>
            <a:ext cx="1508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Optimization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537192" y="3172968"/>
            <a:ext cx="320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9692640" y="274320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1B1F3B"/>
          </a:solidFill>
          <a:ln/>
          <a:effectLst>
            <a:outerShdw blurRad="63500" dist="25400" dir="5400000" algn="bl" rotWithShape="0">
              <a:srgbClr val="1B1F3B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802368" y="28346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784080" y="3154680"/>
            <a:ext cx="1508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4434840"/>
            <a:ext cx="10835640" cy="777240"/>
          </a:xfrm>
          <a:prstGeom prst="roundRect">
            <a:avLst>
              <a:gd name="adj" fmla="val 9412"/>
            </a:avLst>
          </a:prstGeom>
          <a:solidFill>
            <a:srgbClr val="F4F6F9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553712"/>
            <a:ext cx="10287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of this presentation:  </a:t>
            </a: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Analysis is the first phase — every later phase depends on the tokens it produces.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Analysis</a:t>
            </a:r>
            <a:endParaRPr lang="en-US" sz="1000" dirty="0"/>
          </a:p>
        </p:txBody>
      </p:sp>
      <p:pic>
        <p:nvPicPr>
          <p:cNvPr id="32" name="Google Shape;161;p1">
            <a:extLst>
              <a:ext uri="{FF2B5EF4-FFF2-40B4-BE49-F238E27FC236}">
                <a16:creationId xmlns:a16="http://schemas.microsoft.com/office/drawing/2014/main" id="{2249088B-652B-CBD8-C43A-FC783119A4D6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8654" y="109728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162;p1">
            <a:extLst>
              <a:ext uri="{FF2B5EF4-FFF2-40B4-BE49-F238E27FC236}">
                <a16:creationId xmlns:a16="http://schemas.microsoft.com/office/drawing/2014/main" id="{5B01DCBD-7CF2-BB27-794D-CCD43B2A5A0A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349865" y="205416"/>
            <a:ext cx="1520190" cy="13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9282" y="113934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Lexical Analysis?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pic>
        <p:nvPicPr>
          <p:cNvPr id="4" name="Image 0" descr="/home/claude/icons/listol_2EC4B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" y="1848002"/>
            <a:ext cx="281635" cy="2816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719072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phase of the compiler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606040"/>
            <a:ext cx="502920" cy="502920"/>
          </a:xfrm>
          <a:prstGeom prst="ellipse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pic>
        <p:nvPicPr>
          <p:cNvPr id="7" name="Image 1" descr="/home/claude/icons/exchange_2EC4B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82" y="2716682"/>
            <a:ext cx="281635" cy="2816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2587752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characters into tokens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48640" y="3474720"/>
            <a:ext cx="502920" cy="502920"/>
          </a:xfrm>
          <a:prstGeom prst="ellipse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pic>
        <p:nvPicPr>
          <p:cNvPr id="10" name="Image 2" descr="/home/claude/icons/slash_2EC4B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82" y="3585362"/>
            <a:ext cx="281635" cy="28163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3456432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whitespace and comments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48640" y="4343400"/>
            <a:ext cx="502920" cy="502920"/>
          </a:xfrm>
          <a:prstGeom prst="ellipse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pic>
        <p:nvPicPr>
          <p:cNvPr id="13" name="Image 3" descr="/home/claude/icons/check_2EC4B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282" y="4454042"/>
            <a:ext cx="281635" cy="28163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34440" y="4325112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the resulting tokens to the parser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6858000" y="1828800"/>
            <a:ext cx="4754880" cy="3291840"/>
          </a:xfrm>
          <a:prstGeom prst="roundRect">
            <a:avLst>
              <a:gd name="adj" fmla="val 3333"/>
            </a:avLst>
          </a:prstGeom>
          <a:solidFill>
            <a:srgbClr val="1B1F3B"/>
          </a:solidFill>
          <a:ln/>
          <a:effectLst>
            <a:outerShdw blurRad="101600" dist="38100" dir="5400000" algn="bl" rotWithShape="0">
              <a:srgbClr val="1B1F3B">
                <a:alpha val="2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7178040" y="2103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7178040" y="24231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 = 10;</a:t>
            </a:r>
            <a:endParaRPr lang="en-US" sz="2000" dirty="0"/>
          </a:p>
        </p:txBody>
      </p:sp>
      <p:sp>
        <p:nvSpPr>
          <p:cNvPr id="18" name="Shape 12"/>
          <p:cNvSpPr/>
          <p:nvPr/>
        </p:nvSpPr>
        <p:spPr>
          <a:xfrm>
            <a:off x="7178040" y="3063240"/>
            <a:ext cx="4114800" cy="0"/>
          </a:xfrm>
          <a:prstGeom prst="line">
            <a:avLst/>
          </a:prstGeom>
          <a:noFill/>
          <a:ln w="19050">
            <a:solidFill>
              <a:srgbClr val="3A4A6B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7178040" y="3154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lexical analyzer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7178040" y="3611880"/>
            <a:ext cx="530352" cy="548640"/>
          </a:xfrm>
          <a:prstGeom prst="roundRect">
            <a:avLst>
              <a:gd name="adj" fmla="val 10345"/>
            </a:avLst>
          </a:prstGeom>
          <a:solidFill>
            <a:srgbClr val="2EC4B6"/>
          </a:solidFill>
          <a:ln/>
        </p:spPr>
      </p:sp>
      <p:sp>
        <p:nvSpPr>
          <p:cNvPr id="21" name="Text 15"/>
          <p:cNvSpPr/>
          <p:nvPr/>
        </p:nvSpPr>
        <p:spPr>
          <a:xfrm>
            <a:off x="7178040" y="3611880"/>
            <a:ext cx="530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8074152" y="3611880"/>
            <a:ext cx="530352" cy="548640"/>
          </a:xfrm>
          <a:prstGeom prst="roundRect">
            <a:avLst>
              <a:gd name="adj" fmla="val 10345"/>
            </a:avLst>
          </a:prstGeom>
          <a:solidFill>
            <a:srgbClr val="2EC4B6"/>
          </a:solidFill>
          <a:ln/>
        </p:spPr>
      </p:sp>
      <p:sp>
        <p:nvSpPr>
          <p:cNvPr id="23" name="Text 17"/>
          <p:cNvSpPr/>
          <p:nvPr/>
        </p:nvSpPr>
        <p:spPr>
          <a:xfrm>
            <a:off x="8074152" y="3611880"/>
            <a:ext cx="530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8970264" y="3611880"/>
            <a:ext cx="530352" cy="548640"/>
          </a:xfrm>
          <a:prstGeom prst="roundRect">
            <a:avLst>
              <a:gd name="adj" fmla="val 10345"/>
            </a:avLst>
          </a:prstGeom>
          <a:solidFill>
            <a:srgbClr val="2EC4B6"/>
          </a:solidFill>
          <a:ln/>
        </p:spPr>
      </p:sp>
      <p:sp>
        <p:nvSpPr>
          <p:cNvPr id="25" name="Text 19"/>
          <p:cNvSpPr/>
          <p:nvPr/>
        </p:nvSpPr>
        <p:spPr>
          <a:xfrm>
            <a:off x="8970264" y="3611880"/>
            <a:ext cx="530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9866376" y="3611880"/>
            <a:ext cx="530352" cy="548640"/>
          </a:xfrm>
          <a:prstGeom prst="roundRect">
            <a:avLst>
              <a:gd name="adj" fmla="val 10345"/>
            </a:avLst>
          </a:prstGeom>
          <a:solidFill>
            <a:srgbClr val="2EC4B6"/>
          </a:solidFill>
          <a:ln/>
        </p:spPr>
      </p:sp>
      <p:sp>
        <p:nvSpPr>
          <p:cNvPr id="27" name="Text 21"/>
          <p:cNvSpPr/>
          <p:nvPr/>
        </p:nvSpPr>
        <p:spPr>
          <a:xfrm>
            <a:off x="9866376" y="3611880"/>
            <a:ext cx="530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10762488" y="3611880"/>
            <a:ext cx="530352" cy="548640"/>
          </a:xfrm>
          <a:prstGeom prst="roundRect">
            <a:avLst>
              <a:gd name="adj" fmla="val 10345"/>
            </a:avLst>
          </a:prstGeom>
          <a:solidFill>
            <a:srgbClr val="2EC4B6"/>
          </a:solidFill>
          <a:ln/>
        </p:spPr>
      </p:sp>
      <p:sp>
        <p:nvSpPr>
          <p:cNvPr id="29" name="Text 23"/>
          <p:cNvSpPr/>
          <p:nvPr/>
        </p:nvSpPr>
        <p:spPr>
          <a:xfrm>
            <a:off x="10762488" y="3611880"/>
            <a:ext cx="530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7178040" y="4343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7178040" y="46634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syntax analysis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Analysis</a:t>
            </a:r>
            <a:endParaRPr lang="en-US" sz="1000" dirty="0"/>
          </a:p>
        </p:txBody>
      </p:sp>
      <p:pic>
        <p:nvPicPr>
          <p:cNvPr id="35" name="Google Shape;161;p1">
            <a:extLst>
              <a:ext uri="{FF2B5EF4-FFF2-40B4-BE49-F238E27FC236}">
                <a16:creationId xmlns:a16="http://schemas.microsoft.com/office/drawing/2014/main" id="{221B0A1A-3A37-A7B6-DEAA-3F52EBDE9696}"/>
              </a:ext>
            </a:extLst>
          </p:cNvPr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118654" y="109729"/>
            <a:ext cx="1135380" cy="1029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162;p1">
            <a:extLst>
              <a:ext uri="{FF2B5EF4-FFF2-40B4-BE49-F238E27FC236}">
                <a16:creationId xmlns:a16="http://schemas.microsoft.com/office/drawing/2014/main" id="{C0D87D66-FB2E-CBDF-5E0C-A63FF5B6E04E}"/>
              </a:ext>
            </a:extLst>
          </p:cNvPr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10349865" y="196085"/>
            <a:ext cx="1520190" cy="13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43584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of the Lexical Analyzer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217920" y="1348740"/>
            <a:ext cx="473583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core responsibilities carried out during scanning.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3A4A6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286000"/>
            <a:ext cx="685800" cy="68580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6" name="Image 0" descr="/home/claude/icons/book_1B1F3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" y="243687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221992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Reads Source Code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91640" y="2624328"/>
            <a:ext cx="3703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the program character by character from the input file.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989320" y="196596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3A4A6B"/>
          </a:solidFill>
          <a:ln/>
        </p:spPr>
      </p:sp>
      <p:sp>
        <p:nvSpPr>
          <p:cNvPr id="10" name="Shape 7"/>
          <p:cNvSpPr/>
          <p:nvPr/>
        </p:nvSpPr>
        <p:spPr>
          <a:xfrm>
            <a:off x="6263640" y="2286000"/>
            <a:ext cx="685800" cy="68580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11" name="Image 1" descr="/home/claude/icons/code_1B1F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4516" y="243687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2221992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Generates Tokens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132320" y="2624328"/>
            <a:ext cx="3703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characters into meaningful lexemes and classifies them as tokens.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25196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3A4A6B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572000"/>
            <a:ext cx="685800" cy="68580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16" name="Image 2" descr="/home/claude/icons/warning_1B1F3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836" y="472287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507992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Detects Lexical Errors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691640" y="4910328"/>
            <a:ext cx="3703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invalid identifiers, illegal symbols, and malformed constants.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989320" y="425196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3A4A6B"/>
          </a:solidFill>
          <a:ln/>
        </p:spPr>
      </p:sp>
      <p:sp>
        <p:nvSpPr>
          <p:cNvPr id="20" name="Shape 15"/>
          <p:cNvSpPr/>
          <p:nvPr/>
        </p:nvSpPr>
        <p:spPr>
          <a:xfrm>
            <a:off x="6263640" y="4572000"/>
            <a:ext cx="685800" cy="68580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21" name="Image 3" descr="/home/claude/icons/table_1B1F3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4516" y="4722876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4507992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Maintains Symbol Table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132320" y="4910328"/>
            <a:ext cx="3703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identifiers along with their type, scope, and memory details.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Analysis</a:t>
            </a:r>
            <a:endParaRPr lang="en-US" sz="1000" dirty="0"/>
          </a:p>
        </p:txBody>
      </p:sp>
      <p:pic>
        <p:nvPicPr>
          <p:cNvPr id="27" name="Google Shape;161;p1">
            <a:extLst>
              <a:ext uri="{FF2B5EF4-FFF2-40B4-BE49-F238E27FC236}">
                <a16:creationId xmlns:a16="http://schemas.microsoft.com/office/drawing/2014/main" id="{35ACCE37-22B0-3AB4-C602-47C210E448EB}"/>
              </a:ext>
            </a:extLst>
          </p:cNvPr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118654" y="109729"/>
            <a:ext cx="1135380" cy="1216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162;p1">
            <a:extLst>
              <a:ext uri="{FF2B5EF4-FFF2-40B4-BE49-F238E27FC236}">
                <a16:creationId xmlns:a16="http://schemas.microsoft.com/office/drawing/2014/main" id="{2F5B0B16-6D86-C592-A196-2EC41B52AB45}"/>
              </a:ext>
            </a:extLst>
          </p:cNvPr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10478277" y="196085"/>
            <a:ext cx="1391777" cy="12161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801" y="1293876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2313432" y="1332738"/>
            <a:ext cx="9208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token is a categorized unit of meaning produced by the lexical analyzer.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1B1F3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94560" y="18288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 = 10;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2084832" cy="2743200"/>
          </a:xfrm>
          <a:prstGeom prst="roundRect">
            <a:avLst>
              <a:gd name="adj" fmla="val 4386"/>
            </a:avLst>
          </a:prstGeom>
          <a:solidFill>
            <a:srgbClr val="F4F6F9"/>
          </a:solidFill>
          <a:ln/>
          <a:effectLst>
            <a:outerShdw blurRad="63500" dist="25400" dir="5400000" algn="bl" rotWithShape="0">
              <a:srgbClr val="1B1F3B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271016" y="3337560"/>
            <a:ext cx="640080" cy="640080"/>
          </a:xfrm>
          <a:prstGeom prst="ellipse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pic>
        <p:nvPicPr>
          <p:cNvPr id="9" name="Image 0" descr="/home/claude/icons/keyboard_2EC4B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1834" y="3478378"/>
            <a:ext cx="358445" cy="35844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411480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68680" y="4617720"/>
            <a:ext cx="1444752" cy="640080"/>
          </a:xfrm>
          <a:prstGeom prst="roundRect">
            <a:avLst>
              <a:gd name="adj" fmla="val 8571"/>
            </a:avLst>
          </a:prstGeom>
          <a:solidFill>
            <a:srgbClr val="2EC4B6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4617720"/>
            <a:ext cx="1444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2816352" y="3063240"/>
            <a:ext cx="2084832" cy="2743200"/>
          </a:xfrm>
          <a:prstGeom prst="roundRect">
            <a:avLst>
              <a:gd name="adj" fmla="val 4386"/>
            </a:avLst>
          </a:prstGeom>
          <a:solidFill>
            <a:srgbClr val="F4F6F9"/>
          </a:solidFill>
          <a:ln/>
          <a:effectLst>
            <a:outerShdw blurRad="63500" dist="25400" dir="5400000" algn="bl" rotWithShape="0">
              <a:srgbClr val="1B1F3B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538728" y="3337560"/>
            <a:ext cx="640080" cy="640080"/>
          </a:xfrm>
          <a:prstGeom prst="ellipse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pic>
        <p:nvPicPr>
          <p:cNvPr id="15" name="Image 1" descr="/home/claude/icons/font_2EC4B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9546" y="3478378"/>
            <a:ext cx="358445" cy="35844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907792" y="411480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3136392" y="4617720"/>
            <a:ext cx="1444752" cy="640080"/>
          </a:xfrm>
          <a:prstGeom prst="roundRect">
            <a:avLst>
              <a:gd name="adj" fmla="val 8571"/>
            </a:avLst>
          </a:prstGeom>
          <a:solidFill>
            <a:srgbClr val="2EC4B6"/>
          </a:solidFill>
          <a:ln/>
        </p:spPr>
      </p:sp>
      <p:sp>
        <p:nvSpPr>
          <p:cNvPr id="18" name="Text 14"/>
          <p:cNvSpPr/>
          <p:nvPr/>
        </p:nvSpPr>
        <p:spPr>
          <a:xfrm>
            <a:off x="3136392" y="4617720"/>
            <a:ext cx="1444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5084064" y="3063240"/>
            <a:ext cx="2084832" cy="2743200"/>
          </a:xfrm>
          <a:prstGeom prst="roundRect">
            <a:avLst>
              <a:gd name="adj" fmla="val 4386"/>
            </a:avLst>
          </a:prstGeom>
          <a:solidFill>
            <a:srgbClr val="F4F6F9"/>
          </a:solidFill>
          <a:ln/>
          <a:effectLst>
            <a:outerShdw blurRad="63500" dist="25400" dir="5400000" algn="bl" rotWithShape="0">
              <a:srgbClr val="1B1F3B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806440" y="3337560"/>
            <a:ext cx="640080" cy="640080"/>
          </a:xfrm>
          <a:prstGeom prst="ellipse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pic>
        <p:nvPicPr>
          <p:cNvPr id="21" name="Image 2" descr="/home/claude/icons/calculator_2EC4B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7258" y="3478378"/>
            <a:ext cx="358445" cy="35844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175504" y="411480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350" dirty="0"/>
          </a:p>
        </p:txBody>
      </p:sp>
      <p:sp>
        <p:nvSpPr>
          <p:cNvPr id="23" name="Shape 18"/>
          <p:cNvSpPr/>
          <p:nvPr/>
        </p:nvSpPr>
        <p:spPr>
          <a:xfrm>
            <a:off x="5404104" y="4617720"/>
            <a:ext cx="1444752" cy="640080"/>
          </a:xfrm>
          <a:prstGeom prst="roundRect">
            <a:avLst>
              <a:gd name="adj" fmla="val 8571"/>
            </a:avLst>
          </a:prstGeom>
          <a:solidFill>
            <a:srgbClr val="2EC4B6"/>
          </a:solidFill>
          <a:ln/>
        </p:spPr>
      </p:sp>
      <p:sp>
        <p:nvSpPr>
          <p:cNvPr id="24" name="Text 19"/>
          <p:cNvSpPr/>
          <p:nvPr/>
        </p:nvSpPr>
        <p:spPr>
          <a:xfrm>
            <a:off x="5404104" y="4617720"/>
            <a:ext cx="1444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1700" dirty="0"/>
          </a:p>
        </p:txBody>
      </p:sp>
      <p:sp>
        <p:nvSpPr>
          <p:cNvPr id="25" name="Shape 20"/>
          <p:cNvSpPr/>
          <p:nvPr/>
        </p:nvSpPr>
        <p:spPr>
          <a:xfrm>
            <a:off x="7351776" y="3063240"/>
            <a:ext cx="2084832" cy="2743200"/>
          </a:xfrm>
          <a:prstGeom prst="roundRect">
            <a:avLst>
              <a:gd name="adj" fmla="val 4386"/>
            </a:avLst>
          </a:prstGeom>
          <a:solidFill>
            <a:srgbClr val="F4F6F9"/>
          </a:solidFill>
          <a:ln/>
          <a:effectLst>
            <a:outerShdw blurRad="63500" dist="25400" dir="5400000" algn="bl" rotWithShape="0">
              <a:srgbClr val="1B1F3B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074152" y="3337560"/>
            <a:ext cx="640080" cy="640080"/>
          </a:xfrm>
          <a:prstGeom prst="ellipse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pic>
        <p:nvPicPr>
          <p:cNvPr id="27" name="Image 3" descr="/home/claude/icons/hashtag_2EC4B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4970" y="3478378"/>
            <a:ext cx="358445" cy="358445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443216" y="411480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</a:t>
            </a:r>
            <a:endParaRPr lang="en-US" sz="1350" dirty="0"/>
          </a:p>
        </p:txBody>
      </p:sp>
      <p:sp>
        <p:nvSpPr>
          <p:cNvPr id="29" name="Shape 23"/>
          <p:cNvSpPr/>
          <p:nvPr/>
        </p:nvSpPr>
        <p:spPr>
          <a:xfrm>
            <a:off x="7671816" y="4617720"/>
            <a:ext cx="1444752" cy="640080"/>
          </a:xfrm>
          <a:prstGeom prst="roundRect">
            <a:avLst>
              <a:gd name="adj" fmla="val 8571"/>
            </a:avLst>
          </a:prstGeom>
          <a:solidFill>
            <a:srgbClr val="2EC4B6"/>
          </a:solidFill>
          <a:ln/>
        </p:spPr>
      </p:sp>
      <p:sp>
        <p:nvSpPr>
          <p:cNvPr id="30" name="Text 24"/>
          <p:cNvSpPr/>
          <p:nvPr/>
        </p:nvSpPr>
        <p:spPr>
          <a:xfrm>
            <a:off x="7671816" y="4617720"/>
            <a:ext cx="1444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700" dirty="0"/>
          </a:p>
        </p:txBody>
      </p:sp>
      <p:sp>
        <p:nvSpPr>
          <p:cNvPr id="31" name="Shape 25"/>
          <p:cNvSpPr/>
          <p:nvPr/>
        </p:nvSpPr>
        <p:spPr>
          <a:xfrm>
            <a:off x="9619488" y="3063240"/>
            <a:ext cx="2084832" cy="2743200"/>
          </a:xfrm>
          <a:prstGeom prst="roundRect">
            <a:avLst>
              <a:gd name="adj" fmla="val 4386"/>
            </a:avLst>
          </a:prstGeom>
          <a:solidFill>
            <a:srgbClr val="F4F6F9"/>
          </a:solidFill>
          <a:ln/>
          <a:effectLst>
            <a:outerShdw blurRad="63500" dist="25400" dir="5400000" algn="bl" rotWithShape="0">
              <a:srgbClr val="1B1F3B">
                <a:alpha val="10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10341864" y="3337560"/>
            <a:ext cx="640080" cy="640080"/>
          </a:xfrm>
          <a:prstGeom prst="ellipse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pic>
        <p:nvPicPr>
          <p:cNvPr id="33" name="Image 4" descr="/home/claude/icons/slash_2EC4B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82682" y="3478378"/>
            <a:ext cx="358445" cy="358445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9710928" y="411480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Separator</a:t>
            </a:r>
            <a:endParaRPr lang="en-US" sz="1350" dirty="0"/>
          </a:p>
        </p:txBody>
      </p:sp>
      <p:sp>
        <p:nvSpPr>
          <p:cNvPr id="35" name="Shape 28"/>
          <p:cNvSpPr/>
          <p:nvPr/>
        </p:nvSpPr>
        <p:spPr>
          <a:xfrm>
            <a:off x="9939528" y="4617720"/>
            <a:ext cx="1444752" cy="640080"/>
          </a:xfrm>
          <a:prstGeom prst="roundRect">
            <a:avLst>
              <a:gd name="adj" fmla="val 8571"/>
            </a:avLst>
          </a:prstGeom>
          <a:solidFill>
            <a:srgbClr val="2EC4B6"/>
          </a:solidFill>
          <a:ln/>
        </p:spPr>
      </p:sp>
      <p:sp>
        <p:nvSpPr>
          <p:cNvPr id="36" name="Text 29"/>
          <p:cNvSpPr/>
          <p:nvPr/>
        </p:nvSpPr>
        <p:spPr>
          <a:xfrm>
            <a:off x="9939528" y="4617720"/>
            <a:ext cx="1444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700" dirty="0"/>
          </a:p>
        </p:txBody>
      </p:sp>
      <p:sp>
        <p:nvSpPr>
          <p:cNvPr id="37" name="Text 30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Analysis</a:t>
            </a:r>
            <a:endParaRPr lang="en-US" sz="1000" dirty="0"/>
          </a:p>
        </p:txBody>
      </p:sp>
      <p:pic>
        <p:nvPicPr>
          <p:cNvPr id="40" name="Google Shape;161;p1">
            <a:extLst>
              <a:ext uri="{FF2B5EF4-FFF2-40B4-BE49-F238E27FC236}">
                <a16:creationId xmlns:a16="http://schemas.microsoft.com/office/drawing/2014/main" id="{15DA693D-CE61-6B4D-3D28-6AFC2AC5CFEB}"/>
              </a:ext>
            </a:extLst>
          </p:cNvPr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118654" y="109729"/>
            <a:ext cx="1135380" cy="12230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162;p1">
            <a:extLst>
              <a:ext uri="{FF2B5EF4-FFF2-40B4-BE49-F238E27FC236}">
                <a16:creationId xmlns:a16="http://schemas.microsoft.com/office/drawing/2014/main" id="{34DDE6B6-ED70-8872-E4D5-52345E30883D}"/>
              </a:ext>
            </a:extLst>
          </p:cNvPr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10349865" y="196085"/>
            <a:ext cx="1520190" cy="13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654" y="1392631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 Types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2999232" y="1484071"/>
            <a:ext cx="8803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token produced by the lexical analyzer falls into one of five categories.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1B1F3B"/>
          </a:solidFill>
          <a:ln/>
        </p:spPr>
      </p:sp>
      <p:sp>
        <p:nvSpPr>
          <p:cNvPr id="5" name="Shape 3"/>
          <p:cNvSpPr/>
          <p:nvPr/>
        </p:nvSpPr>
        <p:spPr>
          <a:xfrm>
            <a:off x="1271016" y="2423160"/>
            <a:ext cx="640080" cy="64008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6" name="Image 0" descr="/home/claude/icons/keyboard_1B1F3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1834" y="2563978"/>
            <a:ext cx="358445" cy="3584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246120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Keywords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3703320"/>
            <a:ext cx="1719072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words with fixed meaning, e.g. int, if, return.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816352" y="2103120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3A4A6B"/>
          </a:solidFill>
          <a:ln/>
        </p:spPr>
      </p:sp>
      <p:sp>
        <p:nvSpPr>
          <p:cNvPr id="10" name="Shape 7"/>
          <p:cNvSpPr/>
          <p:nvPr/>
        </p:nvSpPr>
        <p:spPr>
          <a:xfrm>
            <a:off x="3538728" y="2423160"/>
            <a:ext cx="640080" cy="64008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11" name="Image 1" descr="/home/claude/icons/font_1B1F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9546" y="2563978"/>
            <a:ext cx="358445" cy="35844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53512" y="3246120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Identifiers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2999232" y="3703320"/>
            <a:ext cx="1719072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given to variables, functions, and arrays.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84064" y="2103120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1B1F3B"/>
          </a:solidFill>
          <a:ln/>
        </p:spPr>
      </p:sp>
      <p:sp>
        <p:nvSpPr>
          <p:cNvPr id="15" name="Shape 11"/>
          <p:cNvSpPr/>
          <p:nvPr/>
        </p:nvSpPr>
        <p:spPr>
          <a:xfrm>
            <a:off x="5806440" y="2423160"/>
            <a:ext cx="640080" cy="64008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16" name="Image 2" descr="/home/claude/icons/calculator_1B1F3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7258" y="2563978"/>
            <a:ext cx="358445" cy="35844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21224" y="3246120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266944" y="3703320"/>
            <a:ext cx="1719072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Symbols denoting operations, e.g. +, =, &amp;&amp;.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351776" y="2103120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3A4A6B"/>
          </a:solidFill>
          <a:ln/>
        </p:spPr>
      </p:sp>
      <p:sp>
        <p:nvSpPr>
          <p:cNvPr id="20" name="Shape 15"/>
          <p:cNvSpPr/>
          <p:nvPr/>
        </p:nvSpPr>
        <p:spPr>
          <a:xfrm>
            <a:off x="8074152" y="2423160"/>
            <a:ext cx="640080" cy="64008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21" name="Image 3" descr="/home/claude/icons/hashtag_1B1F3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4970" y="2563978"/>
            <a:ext cx="358445" cy="35844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88936" y="3246120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Constants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534656" y="3703320"/>
            <a:ext cx="1719072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literal values such as numbers and characters.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9619488" y="2103120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1B1F3B"/>
          </a:solidFill>
          <a:ln/>
        </p:spPr>
      </p:sp>
      <p:sp>
        <p:nvSpPr>
          <p:cNvPr id="25" name="Shape 19"/>
          <p:cNvSpPr/>
          <p:nvPr/>
        </p:nvSpPr>
        <p:spPr>
          <a:xfrm>
            <a:off x="10341864" y="2423160"/>
            <a:ext cx="640080" cy="64008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26" name="Image 4" descr="/home/claude/icons/slash_1B1F3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82682" y="2563978"/>
            <a:ext cx="358445" cy="35844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756648" y="3246120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Separators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9802368" y="3703320"/>
            <a:ext cx="1719072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Punctuation marks like ; , ( ) { }.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Analysis</a:t>
            </a:r>
            <a:endParaRPr lang="en-US" sz="1000" dirty="0"/>
          </a:p>
        </p:txBody>
      </p:sp>
      <p:pic>
        <p:nvPicPr>
          <p:cNvPr id="32" name="Google Shape;161;p1">
            <a:extLst>
              <a:ext uri="{FF2B5EF4-FFF2-40B4-BE49-F238E27FC236}">
                <a16:creationId xmlns:a16="http://schemas.microsoft.com/office/drawing/2014/main" id="{8FA2E766-2680-5335-1B61-866F896A41C2}"/>
              </a:ext>
            </a:extLst>
          </p:cNvPr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118654" y="109728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162;p1">
            <a:extLst>
              <a:ext uri="{FF2B5EF4-FFF2-40B4-BE49-F238E27FC236}">
                <a16:creationId xmlns:a16="http://schemas.microsoft.com/office/drawing/2014/main" id="{5C775898-FF2E-2FD9-CBE0-7E923B8DC00C}"/>
              </a:ext>
            </a:extLst>
          </p:cNvPr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10349865" y="196085"/>
            <a:ext cx="1520190" cy="13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316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Lexical Analysis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93776" y="211828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flows through the analyzer and emerges as a token stream for the parser.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68096" y="2743200"/>
            <a:ext cx="2286000" cy="219456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19050">
            <a:solidFill>
              <a:srgbClr val="3A4A6B"/>
            </a:solidFill>
            <a:prstDash val="solid"/>
          </a:ln>
          <a:effectLst>
            <a:outerShdw blurRad="76200" dist="25400" dir="5400000" algn="bl" rotWithShape="0">
              <a:srgbClr val="1B1F3B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45336" y="3063240"/>
            <a:ext cx="731520" cy="731520"/>
          </a:xfrm>
          <a:prstGeom prst="ellipse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pic>
        <p:nvPicPr>
          <p:cNvPr id="6" name="Image 0" descr="/home/claude/icons/code_2EC4B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270" y="3224174"/>
            <a:ext cx="409651" cy="4096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9536" y="397764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054096" y="352044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3557016" y="2743200"/>
            <a:ext cx="2286000" cy="2194560"/>
          </a:xfrm>
          <a:prstGeom prst="roundRect">
            <a:avLst>
              <a:gd name="adj" fmla="val 5000"/>
            </a:avLst>
          </a:prstGeom>
          <a:solidFill>
            <a:srgbClr val="2EC4B6"/>
          </a:solidFill>
          <a:ln w="19050">
            <a:solidFill>
              <a:srgbClr val="2EC4B6"/>
            </a:solidFill>
            <a:prstDash val="solid"/>
          </a:ln>
          <a:effectLst>
            <a:outerShdw blurRad="76200" dist="25400" dir="5400000" algn="bl" rotWithShape="0">
              <a:srgbClr val="1B1F3B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34256" y="3063240"/>
            <a:ext cx="731520" cy="731520"/>
          </a:xfrm>
          <a:prstGeom prst="ellipse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pic>
        <p:nvPicPr>
          <p:cNvPr id="11" name="Image 1" descr="/home/claude/icons/cogs_2EC4B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190" y="3224174"/>
            <a:ext cx="409651" cy="4096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48456" y="397764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Analyzer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843016" y="352044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4" name="Shape 10"/>
          <p:cNvSpPr/>
          <p:nvPr/>
        </p:nvSpPr>
        <p:spPr>
          <a:xfrm>
            <a:off x="6345936" y="2743200"/>
            <a:ext cx="2286000" cy="219456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19050">
            <a:solidFill>
              <a:srgbClr val="3A4A6B"/>
            </a:solidFill>
            <a:prstDash val="solid"/>
          </a:ln>
          <a:effectLst>
            <a:outerShdw blurRad="76200" dist="25400" dir="5400000" algn="bl" rotWithShape="0">
              <a:srgbClr val="1B1F3B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23176" y="3063240"/>
            <a:ext cx="731520" cy="731520"/>
          </a:xfrm>
          <a:prstGeom prst="ellipse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pic>
        <p:nvPicPr>
          <p:cNvPr id="16" name="Image 2" descr="/home/claude/icons/listol_2EC4B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4110" y="3224174"/>
            <a:ext cx="409651" cy="4096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37376" y="397764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631936" y="352044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9" name="Shape 14"/>
          <p:cNvSpPr/>
          <p:nvPr/>
        </p:nvSpPr>
        <p:spPr>
          <a:xfrm>
            <a:off x="9134856" y="2743200"/>
            <a:ext cx="2286000" cy="219456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19050">
            <a:solidFill>
              <a:srgbClr val="3A4A6B"/>
            </a:solidFill>
            <a:prstDash val="solid"/>
          </a:ln>
          <a:effectLst>
            <a:outerShdw blurRad="76200" dist="25400" dir="5400000" algn="bl" rotWithShape="0">
              <a:srgbClr val="1B1F3B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912096" y="3063240"/>
            <a:ext cx="731520" cy="731520"/>
          </a:xfrm>
          <a:prstGeom prst="ellipse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pic>
        <p:nvPicPr>
          <p:cNvPr id="21" name="Image 3" descr="/home/claude/icons/project_2EC4B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73030" y="3224174"/>
            <a:ext cx="409651" cy="40965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26296" y="397764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Analysis</a:t>
            </a:r>
            <a:endParaRPr lang="en-US" sz="1000" dirty="0"/>
          </a:p>
        </p:txBody>
      </p:sp>
      <p:pic>
        <p:nvPicPr>
          <p:cNvPr id="26" name="Google Shape;161;p1">
            <a:extLst>
              <a:ext uri="{FF2B5EF4-FFF2-40B4-BE49-F238E27FC236}">
                <a16:creationId xmlns:a16="http://schemas.microsoft.com/office/drawing/2014/main" id="{03177644-1D12-A33A-8C8B-06551E6A0B0E}"/>
              </a:ext>
            </a:extLst>
          </p:cNvPr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118654" y="109728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62;p1">
            <a:extLst>
              <a:ext uri="{FF2B5EF4-FFF2-40B4-BE49-F238E27FC236}">
                <a16:creationId xmlns:a16="http://schemas.microsoft.com/office/drawing/2014/main" id="{D35B06B6-B3B5-6E4C-6D97-1D954AEB9497}"/>
              </a:ext>
            </a:extLst>
          </p:cNvPr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10349865" y="196085"/>
            <a:ext cx="1520190" cy="13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0729" y="1197864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Symbol Table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240729" y="173306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structure built during lexical analysis to track every identifier in the program.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2286000"/>
            <a:ext cx="10607040" cy="685800"/>
          </a:xfrm>
          <a:prstGeom prst="roundRect">
            <a:avLst>
              <a:gd name="adj" fmla="val 8000"/>
            </a:avLst>
          </a:prstGeom>
          <a:solidFill>
            <a:srgbClr val="1B1F3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2860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429000" y="22860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80760" y="22860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732520" y="22860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Location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2971800"/>
            <a:ext cx="10607040" cy="685800"/>
          </a:xfrm>
          <a:prstGeom prst="rect">
            <a:avLst/>
          </a:prstGeom>
          <a:solidFill>
            <a:srgbClr val="F4F6F9"/>
          </a:solidFill>
          <a:ln w="12700">
            <a:solidFill>
              <a:srgbClr val="E0E4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9718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29718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80760" y="29718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732520" y="29718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0x7ffde42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411480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compiler phases query the symbol table to check types, resolve scope, and allocate memory correctly.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Analysis</a:t>
            </a:r>
            <a:endParaRPr lang="en-US" sz="1000" dirty="0"/>
          </a:p>
        </p:txBody>
      </p:sp>
      <p:pic>
        <p:nvPicPr>
          <p:cNvPr id="18" name="Google Shape;161;p1">
            <a:extLst>
              <a:ext uri="{FF2B5EF4-FFF2-40B4-BE49-F238E27FC236}">
                <a16:creationId xmlns:a16="http://schemas.microsoft.com/office/drawing/2014/main" id="{D76295E6-7065-DA72-145D-900D71BD1513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8654" y="109729"/>
            <a:ext cx="1135380" cy="1234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162;p1">
            <a:extLst>
              <a:ext uri="{FF2B5EF4-FFF2-40B4-BE49-F238E27FC236}">
                <a16:creationId xmlns:a16="http://schemas.microsoft.com/office/drawing/2014/main" id="{2E6522F6-FFCF-9431-BDF2-74065A492665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349865" y="196085"/>
            <a:ext cx="1520190" cy="13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46911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Lexical Errors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246120" y="1463040"/>
            <a:ext cx="61964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the lexical analyzer catches before parsing even begins.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3A4A6B"/>
          </a:solidFill>
          <a:ln/>
        </p:spPr>
      </p:sp>
      <p:sp>
        <p:nvSpPr>
          <p:cNvPr id="5" name="Shape 3"/>
          <p:cNvSpPr/>
          <p:nvPr/>
        </p:nvSpPr>
        <p:spPr>
          <a:xfrm>
            <a:off x="1988820" y="2377440"/>
            <a:ext cx="640080" cy="64008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6" name="Image 0" descr="/home/claude/icons/warning_1B1F3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9638" y="2518258"/>
            <a:ext cx="358445" cy="3584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20040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Invalid Identifier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65760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 that breaks naming rules, such as starting with a digit.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914400" y="4617720"/>
            <a:ext cx="2788920" cy="54864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461772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2var = 5;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43400" y="210312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3A4A6B"/>
          </a:solidFill>
          <a:ln/>
        </p:spPr>
      </p:sp>
      <p:sp>
        <p:nvSpPr>
          <p:cNvPr id="12" name="Shape 9"/>
          <p:cNvSpPr/>
          <p:nvPr/>
        </p:nvSpPr>
        <p:spPr>
          <a:xfrm>
            <a:off x="5783580" y="2377440"/>
            <a:ext cx="640080" cy="64008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13" name="Image 1" descr="/home/claude/icons/warning_1B1F3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4398" y="2518258"/>
            <a:ext cx="358445" cy="35844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26280" y="320040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Illegal Symbol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617720" y="365760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character that does not belong to the language's alphabet.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709160" y="4617720"/>
            <a:ext cx="2788920" cy="54864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709160" y="461772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@ b;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8138160" y="210312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3A4A6B"/>
          </a:solidFill>
          <a:ln/>
        </p:spPr>
      </p:sp>
      <p:sp>
        <p:nvSpPr>
          <p:cNvPr id="19" name="Shape 15"/>
          <p:cNvSpPr/>
          <p:nvPr/>
        </p:nvSpPr>
        <p:spPr>
          <a:xfrm>
            <a:off x="9578340" y="2377440"/>
            <a:ext cx="640080" cy="64008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20" name="Image 2" descr="/home/claude/icons/warning_1B1F3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9158" y="2518258"/>
            <a:ext cx="358445" cy="35844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21040" y="320040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Unclosed String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8412480" y="365760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string literal missing its terminating quotation mark.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8503920" y="4617720"/>
            <a:ext cx="2788920" cy="54864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503920" y="461772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Analysis</a:t>
            </a:r>
            <a:endParaRPr lang="en-US" sz="1000" dirty="0"/>
          </a:p>
        </p:txBody>
      </p:sp>
      <p:pic>
        <p:nvPicPr>
          <p:cNvPr id="28" name="Google Shape;161;p1">
            <a:extLst>
              <a:ext uri="{FF2B5EF4-FFF2-40B4-BE49-F238E27FC236}">
                <a16:creationId xmlns:a16="http://schemas.microsoft.com/office/drawing/2014/main" id="{18AF5568-E5A1-70CE-C1FD-F72465AB4839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18654" y="109728"/>
            <a:ext cx="1135380" cy="119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162;p1">
            <a:extLst>
              <a:ext uri="{FF2B5EF4-FFF2-40B4-BE49-F238E27FC236}">
                <a16:creationId xmlns:a16="http://schemas.microsoft.com/office/drawing/2014/main" id="{DE45A689-B819-5E6C-16A0-4B3360EA4130}"/>
              </a:ext>
            </a:extLst>
          </p:cNvPr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0349865" y="196085"/>
            <a:ext cx="1520190" cy="13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291840" cy="3291840"/>
          </a:xfrm>
          <a:prstGeom prst="roundRect">
            <a:avLst>
              <a:gd name="adj" fmla="val 2778"/>
            </a:avLst>
          </a:prstGeom>
          <a:solidFill>
            <a:srgbClr val="F4F6F9"/>
          </a:solidFill>
          <a:ln/>
          <a:effectLst>
            <a:outerShdw blurRad="76200" dist="254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0" y="2514600"/>
            <a:ext cx="731520" cy="731520"/>
          </a:xfrm>
          <a:prstGeom prst="ellipse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pic>
        <p:nvPicPr>
          <p:cNvPr id="6" name="Image 0" descr="/home/claude/icons/bolt_2EC4B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9734" y="2675534"/>
            <a:ext cx="409651" cy="4096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520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Compilation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402336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specialized scanning is far quicker than parsing raw characters directly.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06240" y="2148840"/>
            <a:ext cx="3291840" cy="3291840"/>
          </a:xfrm>
          <a:prstGeom prst="roundRect">
            <a:avLst>
              <a:gd name="adj" fmla="val 2778"/>
            </a:avLst>
          </a:prstGeom>
          <a:solidFill>
            <a:srgbClr val="F4F6F9"/>
          </a:solidFill>
          <a:ln/>
          <a:effectLst>
            <a:outerShdw blurRad="76200" dist="254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0" y="2514600"/>
            <a:ext cx="731520" cy="731520"/>
          </a:xfrm>
          <a:prstGeom prst="ellipse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pic>
        <p:nvPicPr>
          <p:cNvPr id="11" name="Image 1" descr="/home/claude/icons/search_2EC4B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7334" y="2675534"/>
            <a:ext cx="409651" cy="4096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89120" y="3520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Error Detection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480560" y="402336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mistakes surface immediately, before wasting time on later phases.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863840" y="2148840"/>
            <a:ext cx="3291840" cy="3291840"/>
          </a:xfrm>
          <a:prstGeom prst="roundRect">
            <a:avLst>
              <a:gd name="adj" fmla="val 2778"/>
            </a:avLst>
          </a:prstGeom>
          <a:solidFill>
            <a:srgbClr val="F4F6F9"/>
          </a:solidFill>
          <a:ln/>
          <a:effectLst>
            <a:outerShdw blurRad="76200" dist="254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0" y="2514600"/>
            <a:ext cx="731520" cy="731520"/>
          </a:xfrm>
          <a:prstGeom prst="ellipse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pic>
        <p:nvPicPr>
          <p:cNvPr id="16" name="Image 2" descr="/home/claude/icons/check_2EC4B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4934" y="2675534"/>
            <a:ext cx="409651" cy="4096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46720" y="3520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Simplifies Parsing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138160" y="402336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parser works with clean tokens instead of raw, unstructured text.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Analysis</a:t>
            </a:r>
            <a:endParaRPr lang="en-US" sz="1000" dirty="0"/>
          </a:p>
        </p:txBody>
      </p:sp>
      <p:pic>
        <p:nvPicPr>
          <p:cNvPr id="22" name="Google Shape;161;p1">
            <a:extLst>
              <a:ext uri="{FF2B5EF4-FFF2-40B4-BE49-F238E27FC236}">
                <a16:creationId xmlns:a16="http://schemas.microsoft.com/office/drawing/2014/main" id="{B879F230-8A5D-1A7B-6FDB-7230C94C3D58}"/>
              </a:ext>
            </a:extLst>
          </p:cNvPr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118654" y="109728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162;p1">
            <a:extLst>
              <a:ext uri="{FF2B5EF4-FFF2-40B4-BE49-F238E27FC236}">
                <a16:creationId xmlns:a16="http://schemas.microsoft.com/office/drawing/2014/main" id="{4E6D8F86-AD81-0639-BA15-1652703FB25E}"/>
              </a:ext>
            </a:extLst>
          </p:cNvPr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10349865" y="196085"/>
            <a:ext cx="1520190" cy="13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41094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291840" cy="3291840"/>
          </a:xfrm>
          <a:prstGeom prst="roundRect">
            <a:avLst>
              <a:gd name="adj" fmla="val 2778"/>
            </a:avLst>
          </a:prstGeom>
          <a:solidFill>
            <a:srgbClr val="3A4A6B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0" y="2514600"/>
            <a:ext cx="731520" cy="73152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6" name="Image 0" descr="/home/claude/icons/code_1B1F3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9734" y="2675534"/>
            <a:ext cx="409651" cy="4096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520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Compilers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402336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C, C++, Java, and Python compilers all begin with a lexical scanning stage.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06240" y="2148840"/>
            <a:ext cx="3291840" cy="3291840"/>
          </a:xfrm>
          <a:prstGeom prst="roundRect">
            <a:avLst>
              <a:gd name="adj" fmla="val 2778"/>
            </a:avLst>
          </a:prstGeom>
          <a:solidFill>
            <a:srgbClr val="1B1F3B"/>
          </a:solidFill>
          <a:ln/>
        </p:spPr>
      </p:sp>
      <p:sp>
        <p:nvSpPr>
          <p:cNvPr id="10" name="Shape 7"/>
          <p:cNvSpPr/>
          <p:nvPr/>
        </p:nvSpPr>
        <p:spPr>
          <a:xfrm>
            <a:off x="5486400" y="2514600"/>
            <a:ext cx="731520" cy="73152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11" name="Image 1" descr="/home/claude/icons/laptop_1B1F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7334" y="2675534"/>
            <a:ext cx="409651" cy="4096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89120" y="3520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480560" y="402336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Editors use lexers for syntax highlighting and real-time error underlining.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863840" y="2148840"/>
            <a:ext cx="3291840" cy="3291840"/>
          </a:xfrm>
          <a:prstGeom prst="roundRect">
            <a:avLst>
              <a:gd name="adj" fmla="val 2778"/>
            </a:avLst>
          </a:prstGeom>
          <a:solidFill>
            <a:srgbClr val="3A4A6B"/>
          </a:solidFill>
          <a:ln/>
        </p:spPr>
      </p:sp>
      <p:sp>
        <p:nvSpPr>
          <p:cNvPr id="15" name="Shape 11"/>
          <p:cNvSpPr/>
          <p:nvPr/>
        </p:nvSpPr>
        <p:spPr>
          <a:xfrm>
            <a:off x="9144000" y="2514600"/>
            <a:ext cx="731520" cy="73152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16" name="Image 2" descr="/home/claude/icons/terminal_1B1F3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4934" y="2675534"/>
            <a:ext cx="409651" cy="4096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46720" y="3520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Interpreters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138160" y="402336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Scripting language interpreters tokenize each line before executing it.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Analysis</a:t>
            </a:r>
            <a:endParaRPr lang="en-US" sz="1000" dirty="0"/>
          </a:p>
        </p:txBody>
      </p:sp>
      <p:pic>
        <p:nvPicPr>
          <p:cNvPr id="22" name="Google Shape;161;p1">
            <a:extLst>
              <a:ext uri="{FF2B5EF4-FFF2-40B4-BE49-F238E27FC236}">
                <a16:creationId xmlns:a16="http://schemas.microsoft.com/office/drawing/2014/main" id="{632EEF1A-C206-2085-E896-494BA24EBC1C}"/>
              </a:ext>
            </a:extLst>
          </p:cNvPr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118654" y="109728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162;p1">
            <a:extLst>
              <a:ext uri="{FF2B5EF4-FFF2-40B4-BE49-F238E27FC236}">
                <a16:creationId xmlns:a16="http://schemas.microsoft.com/office/drawing/2014/main" id="{FF0E457D-064A-C47D-4308-F79A7C71F55B}"/>
              </a:ext>
            </a:extLst>
          </p:cNvPr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10349865" y="196085"/>
            <a:ext cx="1520190" cy="13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58265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Real-Life Example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120640" cy="3657600"/>
          </a:xfrm>
          <a:prstGeom prst="roundRect">
            <a:avLst>
              <a:gd name="adj" fmla="val 3000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468880"/>
            <a:ext cx="640080" cy="640080"/>
          </a:xfrm>
          <a:prstGeom prst="ellipse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pic>
        <p:nvPicPr>
          <p:cNvPr id="6" name="Image 0" descr="/home/claude/icons/language_2EC4B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8" y="2609698"/>
            <a:ext cx="358445" cy="3584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5603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Everyday Language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342900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 sat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39776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break into words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68680" y="4434840"/>
            <a:ext cx="1280160" cy="54864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44348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377440" y="4434840"/>
            <a:ext cx="1280160" cy="54864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/>
        </p:spPr>
      </p:sp>
      <p:sp>
        <p:nvSpPr>
          <p:cNvPr id="13" name="Text 10"/>
          <p:cNvSpPr/>
          <p:nvPr/>
        </p:nvSpPr>
        <p:spPr>
          <a:xfrm>
            <a:off x="2377440" y="44348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886200" y="4434840"/>
            <a:ext cx="1280160" cy="54864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/>
        </p:spPr>
      </p:sp>
      <p:sp>
        <p:nvSpPr>
          <p:cNvPr id="15" name="Text 12"/>
          <p:cNvSpPr/>
          <p:nvPr/>
        </p:nvSpPr>
        <p:spPr>
          <a:xfrm>
            <a:off x="3886200" y="44348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68680" y="51663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→ Words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492240" y="2148840"/>
            <a:ext cx="5120640" cy="3657600"/>
          </a:xfrm>
          <a:prstGeom prst="roundRect">
            <a:avLst>
              <a:gd name="adj" fmla="val 3000"/>
            </a:avLst>
          </a:prstGeom>
          <a:solidFill>
            <a:srgbClr val="1B1F3B"/>
          </a:solidFill>
          <a:ln/>
        </p:spPr>
      </p:sp>
      <p:sp>
        <p:nvSpPr>
          <p:cNvPr id="18" name="Shape 15"/>
          <p:cNvSpPr/>
          <p:nvPr/>
        </p:nvSpPr>
        <p:spPr>
          <a:xfrm>
            <a:off x="6812280" y="2468880"/>
            <a:ext cx="640080" cy="64008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19" name="Image 1" descr="/home/claude/icons/code_1B1F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098" y="2609698"/>
            <a:ext cx="358445" cy="358445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589520" y="25603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Programming Language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6812280" y="342900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1;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6812280" y="39776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break into tokens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812280" y="4434840"/>
            <a:ext cx="914400" cy="548640"/>
          </a:xfrm>
          <a:prstGeom prst="roundRect">
            <a:avLst>
              <a:gd name="adj" fmla="val 10000"/>
            </a:avLst>
          </a:prstGeom>
          <a:solidFill>
            <a:srgbClr val="2EC4B6"/>
          </a:solidFill>
          <a:ln/>
        </p:spPr>
      </p:sp>
      <p:sp>
        <p:nvSpPr>
          <p:cNvPr id="24" name="Text 20"/>
          <p:cNvSpPr/>
          <p:nvPr/>
        </p:nvSpPr>
        <p:spPr>
          <a:xfrm>
            <a:off x="6812280" y="44348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7909560" y="4434840"/>
            <a:ext cx="914400" cy="548640"/>
          </a:xfrm>
          <a:prstGeom prst="roundRect">
            <a:avLst>
              <a:gd name="adj" fmla="val 10000"/>
            </a:avLst>
          </a:prstGeom>
          <a:solidFill>
            <a:srgbClr val="2EC4B6"/>
          </a:solidFill>
          <a:ln/>
        </p:spPr>
      </p:sp>
      <p:sp>
        <p:nvSpPr>
          <p:cNvPr id="26" name="Text 22"/>
          <p:cNvSpPr/>
          <p:nvPr/>
        </p:nvSpPr>
        <p:spPr>
          <a:xfrm>
            <a:off x="7909560" y="44348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9006840" y="4434840"/>
            <a:ext cx="914400" cy="548640"/>
          </a:xfrm>
          <a:prstGeom prst="roundRect">
            <a:avLst>
              <a:gd name="adj" fmla="val 10000"/>
            </a:avLst>
          </a:prstGeom>
          <a:solidFill>
            <a:srgbClr val="2EC4B6"/>
          </a:solidFill>
          <a:ln/>
        </p:spPr>
      </p:sp>
      <p:sp>
        <p:nvSpPr>
          <p:cNvPr id="28" name="Text 24"/>
          <p:cNvSpPr/>
          <p:nvPr/>
        </p:nvSpPr>
        <p:spPr>
          <a:xfrm>
            <a:off x="9006840" y="44348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10104120" y="4434840"/>
            <a:ext cx="914400" cy="548640"/>
          </a:xfrm>
          <a:prstGeom prst="roundRect">
            <a:avLst>
              <a:gd name="adj" fmla="val 10000"/>
            </a:avLst>
          </a:prstGeom>
          <a:solidFill>
            <a:srgbClr val="2EC4B6"/>
          </a:solidFill>
          <a:ln/>
        </p:spPr>
      </p:sp>
      <p:sp>
        <p:nvSpPr>
          <p:cNvPr id="30" name="Text 26"/>
          <p:cNvSpPr/>
          <p:nvPr/>
        </p:nvSpPr>
        <p:spPr>
          <a:xfrm>
            <a:off x="10104120" y="44348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6812280" y="51663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→ Tokens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Analysis</a:t>
            </a:r>
            <a:endParaRPr lang="en-US" sz="1000" dirty="0"/>
          </a:p>
        </p:txBody>
      </p:sp>
      <p:pic>
        <p:nvPicPr>
          <p:cNvPr id="35" name="Google Shape;161;p1">
            <a:extLst>
              <a:ext uri="{FF2B5EF4-FFF2-40B4-BE49-F238E27FC236}">
                <a16:creationId xmlns:a16="http://schemas.microsoft.com/office/drawing/2014/main" id="{7EB381DF-1C68-0F29-36D7-9E458E9F0002}"/>
              </a:ext>
            </a:extLst>
          </p:cNvPr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18654" y="109728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162;p1">
            <a:extLst>
              <a:ext uri="{FF2B5EF4-FFF2-40B4-BE49-F238E27FC236}">
                <a16:creationId xmlns:a16="http://schemas.microsoft.com/office/drawing/2014/main" id="{A5A3C71F-D3A0-8B8A-7445-B004380F0A6E}"/>
              </a:ext>
            </a:extLst>
          </p:cNvPr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10349865" y="196085"/>
            <a:ext cx="1520190" cy="13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458968" y="1371600"/>
            <a:ext cx="914400" cy="91440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5" name="Image 0" descr="/home/claude/icons/check_1B1F3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0136" y="1572768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060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645920" y="3291840"/>
            <a:ext cx="8869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Lexical analysis is the first phase of compilation — it converts raw source code into a clean stream of tokens that every later phase depends on.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Analysis</a:t>
            </a:r>
            <a:endParaRPr lang="en-US" sz="1000" dirty="0"/>
          </a:p>
        </p:txBody>
      </p:sp>
      <p:pic>
        <p:nvPicPr>
          <p:cNvPr id="11" name="Google Shape;161;p1">
            <a:extLst>
              <a:ext uri="{FF2B5EF4-FFF2-40B4-BE49-F238E27FC236}">
                <a16:creationId xmlns:a16="http://schemas.microsoft.com/office/drawing/2014/main" id="{F4C2B90E-8915-CBBB-863D-2E5F73ECBADE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18654" y="109728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62;p1">
            <a:extLst>
              <a:ext uri="{FF2B5EF4-FFF2-40B4-BE49-F238E27FC236}">
                <a16:creationId xmlns:a16="http://schemas.microsoft.com/office/drawing/2014/main" id="{BAABA415-5264-2EAA-542B-959AFC8617F1}"/>
              </a:ext>
            </a:extLst>
          </p:cNvPr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0349865" y="196085"/>
            <a:ext cx="1520190" cy="13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85E5A7-7E1B-BC3E-88EB-E569FA45F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>
            <a:extLst>
              <a:ext uri="{FF2B5EF4-FFF2-40B4-BE49-F238E27FC236}">
                <a16:creationId xmlns:a16="http://schemas.microsoft.com/office/drawing/2014/main" id="{6D67E2AA-0744-41B3-32FB-0D0441AB94BD}"/>
              </a:ext>
            </a:extLst>
          </p:cNvPr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11" name="Google Shape;161;p1">
            <a:extLst>
              <a:ext uri="{FF2B5EF4-FFF2-40B4-BE49-F238E27FC236}">
                <a16:creationId xmlns:a16="http://schemas.microsoft.com/office/drawing/2014/main" id="{A1FDD247-A028-079F-9737-4D8DD63663F5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8654" y="109728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62;p1">
            <a:extLst>
              <a:ext uri="{FF2B5EF4-FFF2-40B4-BE49-F238E27FC236}">
                <a16:creationId xmlns:a16="http://schemas.microsoft.com/office/drawing/2014/main" id="{EE5DE038-D90D-0DBE-FE64-1090CB9786B6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349865" y="196085"/>
            <a:ext cx="152019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6F4D669-DA6A-4D32-90CE-3C01F9653E43}"/>
              </a:ext>
            </a:extLst>
          </p:cNvPr>
          <p:cNvSpPr txBox="1"/>
          <p:nvPr/>
        </p:nvSpPr>
        <p:spPr>
          <a:xfrm>
            <a:off x="2957804" y="2567226"/>
            <a:ext cx="700729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dirty="0">
                <a:solidFill>
                  <a:schemeClr val="bg2"/>
                </a:solidFill>
                <a:latin typeface="Wide Latin" panose="020A0A07050505020404" pitchFamily="18" charset="0"/>
              </a:rPr>
              <a:t>Thank You</a:t>
            </a:r>
            <a:endParaRPr lang="en-IN" sz="5000" b="1" dirty="0">
              <a:solidFill>
                <a:schemeClr val="bg2"/>
              </a:solidFill>
              <a:latin typeface="Wide Latin" panose="020A0A07050505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7292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19</TotalTime>
  <Words>711</Words>
  <Application>Microsoft Office PowerPoint</Application>
  <PresentationFormat>Widescreen</PresentationFormat>
  <Paragraphs>193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Cambria</vt:lpstr>
      <vt:lpstr>Courier New</vt:lpstr>
      <vt:lpstr>Times New Roman</vt:lpstr>
      <vt:lpstr>Wide Latin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Gowtham Enamala</cp:lastModifiedBy>
  <cp:revision>3</cp:revision>
  <dcterms:created xsi:type="dcterms:W3CDTF">2026-07-27T17:27:58Z</dcterms:created>
  <dcterms:modified xsi:type="dcterms:W3CDTF">2026-07-28T13:22:34Z</dcterms:modified>
</cp:coreProperties>
</file>